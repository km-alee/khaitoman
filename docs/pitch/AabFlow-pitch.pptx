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A9BCB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A9BCB8"/>
                </a:solidFill>
                <a:latin typeface="Calibri"/>
              </a:rPr>
              <a:t>Wheat produced (tonnes)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Wheat (t)</c:v>
                </c:pt>
              </c:strCache>
            </c:strRef>
          </c:tx>
          <c:spPr>
            <a:solidFill>
              <a:srgbClr val="7A6F5C"/>
            </a:solidFill>
            <a:effectLst/>
          </c:spPr>
          <c:invertIfNegative val="0"/>
          <c:dLbls>
            <c:numFmt formatCode="0.0&quot; t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E8EFE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6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8A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B3B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Today's routine (B0)</c:v>
                  </c:pt>
                  <c:pt idx="1">
                    <c:v>Optimise existing (B1)</c:v>
                  </c:pt>
                  <c:pt idx="2">
                    <c:v>AabFlow plan (P)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129.7</c:v>
                </c:pt>
                <c:pt idx="1">
                  <c:v>140.5</c:v>
                </c:pt>
                <c:pt idx="2">
                  <c:v>154.1</c:v>
                </c:pt>
              </c:numCache>
            </c:numRef>
          </c:val>
        </c:ser>
        <c:dLbls>
          <c:numFmt formatCode="0.0&quot; t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E8EFE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BC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98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A9BCB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A9BCB8"/>
                </a:solidFill>
                <a:latin typeface="Calibri"/>
              </a:rPr>
              <a:t>Worst-off tail field: share of its water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Tail field water</c:v>
                </c:pt>
              </c:strCache>
            </c:strRef>
          </c:tx>
          <c:spPr>
            <a:solidFill>
              <a:srgbClr val="7A6F5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E8EFE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6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C8A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B3B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Today's routine (B0)</c:v>
                  </c:pt>
                  <c:pt idx="1">
                    <c:v>Optimise existing (B1)</c:v>
                  </c:pt>
                  <c:pt idx="2">
                    <c:v>AabFlow plan (P)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</c:v>
                </c:pt>
                <c:pt idx="1">
                  <c:v>44</c:v>
                </c:pt>
                <c:pt idx="2">
                  <c:v>61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E8EFE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BC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98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A9BCB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A9BCB8"/>
                </a:solidFill>
                <a:latin typeface="Calibri"/>
              </a:rPr>
              <a:t>Wheat produced vs capital budget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Wheat (t)</c:v>
                </c:pt>
              </c:strCache>
            </c:strRef>
          </c:tx>
          <c:spPr>
            <a:solidFill>
              <a:srgbClr val="3FB3BF"/>
            </a:solidFill>
            <a:ln w="38100" cap="flat">
              <a:solidFill>
                <a:srgbClr val="3FB3BF"/>
              </a:solidFill>
              <a:prstDash val="solid"/>
              <a:round/>
            </a:ln>
            <a:effectLst/>
          </c:spPr>
          <c:invertIfNegative val="0"/>
          <c:dLbls>
            <c:numFmt formatCode="0.0&quot; t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8EFEB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3FB3BF"/>
              </a:solidFill>
              <a:ln w="9525" cap="flat">
                <a:solidFill>
                  <a:srgbClr val="3FB3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Rs 0</c:v>
                  </c:pt>
                  <c:pt idx="1">
                    <c:v>Rs 5 lakh</c:v>
                  </c:pt>
                  <c:pt idx="2">
                    <c:v>Rs 15 lakh</c:v>
                  </c:pt>
                  <c:pt idx="3">
                    <c:v>Rs 30 lakh</c:v>
                  </c:pt>
                  <c:pt idx="4">
                    <c:v>Rs 80 lakh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140.5</c:v>
                </c:pt>
                <c:pt idx="1">
                  <c:v>152.9</c:v>
                </c:pt>
                <c:pt idx="2">
                  <c:v>153.3</c:v>
                </c:pt>
                <c:pt idx="3">
                  <c:v>154.1</c:v>
                </c:pt>
                <c:pt idx="4">
                  <c:v>154.6</c:v>
                </c:pt>
              </c:numCache>
            </c:numRef>
          </c:val>
          <c:smooth val="0"/>
        </c:ser>
        <c:dLbls>
          <c:numFmt formatCode="0.0&quot; t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E8EFEB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9BC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8"/>
          <c:min val="13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98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AabFlow is an AI planning agent for village water committees. One line: test the season before you spend. Everything you will see is computed from real runs; nothing is staged.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Warabandi: fixed weekly turns. The tail is served last. The committee can afford only some improvements, and a 22% shortage is projected (APP).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Optimising only what exists grew 8.3% more wheat but cut the worst-off tail field from 61% to 44% of its water. AabFlow catches that. Runs: B0 run_8b6f, B1 run_6980, P run_5f2a.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+18.8% wheat, tail back to 61%, 65% of the budget. Say the groundwater cost out loud: it builds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AabFlow is an AI planning agent with four senses. Sees: 931 raw outlines to 30 reviewed. Predicts: LightGBM trained on 45,619 AquaCrop runs, 6.8 ms. Plans: CP-SAT searched 7,745 policies and proved the best. Explains: 27 real tools, Urdu.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Dashed outlines are raw AI detections. Accuracy is not estimated (no reference boundaries); we report the review rate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Live, the server measured 6–15 ms per estimate while dragging. The preview is never shown as exact.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Frontier analysis ana_5bfa: 0 to 80 lakh. Returns flatten after 5 lakh. Each point is its own immutable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analysis ana_4e96 on the robust plan: deliverable in all 9 states. Production per weather year is the same across supply rows for this fixed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mode on the same copilot engine: 4 model rounds, tools in parallel. Its honest headline: choose the 10-lakh tail-protect plan, but it cannot be guaranteed through dry-year shortages; the robust variant was infeasible at that budget. Saved investigation replays offline; Run it live is the encore.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Limits, said first: uncalibrated crop model; assumed rights and costs; optimal only within generated candidates; copilot 30x3 evaluation (AT17) not yet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the printed brief (make print-brief). IWMI's PRIAT works with 72 WUAs in Punjab: that is the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ask. Do not claim AT17, calibrated yields or measured rights or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B_DARK">
    <p:bg>
      <p:bgPr>
        <a:solidFill>
          <a:srgbClr val="0B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AabFlow · AICON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7223760" y="-1463040"/>
            <a:ext cx="6583680" cy="6583680"/>
          </a:xfrm>
          <a:prstGeom prst="ellipse">
            <a:avLst/>
          </a:prstGeom>
          <a:solidFill>
            <a:srgbClr val="3FB3BF">
              <a:alpha val="18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AICON 2026 · IRRIGATION AND CANAL WATER PLANNING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150876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AabFlow</a:t>
            </a:r>
            <a:endParaRPr lang="en-US" sz="6600" dirty="0"/>
          </a:p>
        </p:txBody>
      </p:sp>
      <p:sp>
        <p:nvSpPr>
          <p:cNvPr id="5" name="anim-tagline"/>
          <p:cNvSpPr txBox="1"/>
          <p:nvPr/>
        </p:nvSpPr>
        <p:spPr>
          <a:xfrm>
            <a:off x="548640" y="26060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6F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season before you spend.</a:t>
            </a:r>
            <a:endParaRPr lang="en-US" sz="3400" dirty="0"/>
          </a:p>
        </p:txBody>
      </p:sp>
      <p:sp>
        <p:nvSpPr>
          <p:cNvPr id="6" name="anim-lede"/>
          <p:cNvSpPr txBox="1"/>
          <p:nvPr/>
        </p:nvSpPr>
        <p:spPr>
          <a:xfrm>
            <a:off x="548640" y="38862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planning agent that helps a village water committee decide which improvements to fund, before a single rupee is spent.</a:t>
            </a:r>
            <a:endParaRPr lang="en-US" sz="1700" dirty="0"/>
          </a:p>
        </p:txBody>
      </p:sp>
      <p:sp>
        <p:nvSpPr>
          <p:cNvPr id="7" name="anim-hero-frame"/>
          <p:cNvSpPr/>
          <p:nvPr/>
        </p:nvSpPr>
        <p:spPr>
          <a:xfrm>
            <a:off x="6345936" y="1362456"/>
            <a:ext cx="5367528" cy="3067241"/>
          </a:xfrm>
          <a:prstGeom prst="roundRect">
            <a:avLst>
              <a:gd name="adj" fmla="val 4770"/>
            </a:avLst>
          </a:prstGeom>
          <a:solidFill>
            <a:srgbClr val="1B3331"/>
          </a:solidFill>
          <a:ln w="12700">
            <a:solidFill>
              <a:srgbClr val="087F8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8" name="anim-hero" descr="/repo/docs/pitch/shots/03-map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257800" cy="2957513"/>
          </a:xfrm>
          <a:prstGeom prst="rect">
            <a:avLst/>
          </a:prstGeom>
        </p:spPr>
      </p:pic>
      <p:sp>
        <p:nvSpPr>
          <p:cNvPr id="9" name="anim-caption"/>
          <p:cNvSpPr txBox="1"/>
          <p:nvPr/>
        </p:nvSpPr>
        <p:spPr>
          <a:xfrm>
            <a:off x="6400800" y="45262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9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Sentinel-2 imagery · 30 AI-drawn fields · yield shown as height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7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9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1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8778240" y="3017520"/>
            <a:ext cx="2926080" cy="2926080"/>
          </a:xfrm>
          <a:prstGeom prst="ellipse">
            <a:avLst/>
          </a:prstGeom>
          <a:solidFill>
            <a:srgbClr val="3FB3BF">
              <a:alpha val="30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tail farmer gets water last</a:t>
            </a:r>
            <a:endParaRPr lang="en-US" sz="3600" dirty="0"/>
          </a:p>
        </p:txBody>
      </p:sp>
      <p:sp>
        <p:nvSpPr>
          <p:cNvPr id="5" name="anim-sub"/>
          <p:cNvSpPr txBox="1"/>
          <p:nvPr/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dozen farmers share one earthen watercourse and take fixed turns. The far end goes short first.</a:t>
            </a:r>
            <a:endParaRPr lang="en-US" sz="1700" dirty="0"/>
          </a:p>
        </p:txBody>
      </p:sp>
      <p:sp>
        <p:nvSpPr>
          <p:cNvPr id="6" name="anim-pt0-icon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3FB3BF">
              <a:alpha val="22000"/>
            </a:srgbClr>
          </a:solidFill>
          <a:ln w="15875">
            <a:solidFill>
              <a:srgbClr val="3FB3BF"/>
            </a:solidFill>
            <a:prstDash val="solid"/>
          </a:ln>
        </p:spPr>
      </p:sp>
      <p:sp>
        <p:nvSpPr>
          <p:cNvPr id="7" name="anim-pt0-glyph"/>
          <p:cNvSpPr txBox="1"/>
          <p:nvPr/>
        </p:nvSpPr>
        <p:spPr>
          <a:xfrm>
            <a:off x="54864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anim-pt0-h"/>
          <p:cNvSpPr txBox="1"/>
          <p:nvPr/>
        </p:nvSpPr>
        <p:spPr>
          <a:xfrm>
            <a:off x="1325880" y="2066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channel</a:t>
            </a:r>
            <a:endParaRPr lang="en-US" sz="1900" dirty="0"/>
          </a:p>
        </p:txBody>
      </p:sp>
      <p:sp>
        <p:nvSpPr>
          <p:cNvPr id="9" name="anim-pt0-b"/>
          <p:cNvSpPr txBox="1"/>
          <p:nvPr/>
        </p:nvSpPr>
        <p:spPr>
          <a:xfrm>
            <a:off x="1325880" y="24505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near the canal (the head) water first; the tail waits.</a:t>
            </a:r>
            <a:endParaRPr lang="en-US" sz="1500" dirty="0"/>
          </a:p>
        </p:txBody>
      </p:sp>
      <p:sp>
        <p:nvSpPr>
          <p:cNvPr id="10" name="anim-pt1-icon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3FB3BF">
              <a:alpha val="22000"/>
            </a:srgbClr>
          </a:solidFill>
          <a:ln w="15875">
            <a:solidFill>
              <a:srgbClr val="3FB3BF"/>
            </a:solidFill>
            <a:prstDash val="solid"/>
          </a:ln>
        </p:spPr>
      </p:sp>
      <p:sp>
        <p:nvSpPr>
          <p:cNvPr id="11" name="anim-pt1-glyph"/>
          <p:cNvSpPr txBox="1"/>
          <p:nvPr/>
        </p:nvSpPr>
        <p:spPr>
          <a:xfrm>
            <a:off x="5486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anim-pt1-h"/>
          <p:cNvSpPr txBox="1"/>
          <p:nvPr/>
        </p:nvSpPr>
        <p:spPr>
          <a:xfrm>
            <a:off x="1325880" y="33009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budget</a:t>
            </a:r>
            <a:endParaRPr lang="en-US" sz="1900" dirty="0"/>
          </a:p>
        </p:txBody>
      </p:sp>
      <p:sp>
        <p:nvSpPr>
          <p:cNvPr id="13" name="anim-pt1-b"/>
          <p:cNvSpPr txBox="1"/>
          <p:nvPr/>
        </p:nvSpPr>
        <p:spPr>
          <a:xfrm>
            <a:off x="1325880" y="36850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Levelling, a pond, a canal repair, extra pumping: they can fund only some.</a:t>
            </a:r>
            <a:endParaRPr lang="en-US" sz="1500" dirty="0"/>
          </a:p>
        </p:txBody>
      </p:sp>
      <p:sp>
        <p:nvSpPr>
          <p:cNvPr id="14" name="anim-pt2-icon"/>
          <p:cNvSpPr/>
          <p:nvPr/>
        </p:nvSpPr>
        <p:spPr>
          <a:xfrm>
            <a:off x="548640" y="4572000"/>
            <a:ext cx="566928" cy="566928"/>
          </a:xfrm>
          <a:prstGeom prst="ellipse">
            <a:avLst/>
          </a:prstGeom>
          <a:solidFill>
            <a:srgbClr val="3FB3BF">
              <a:alpha val="22000"/>
            </a:srgbClr>
          </a:solidFill>
          <a:ln w="15875">
            <a:solidFill>
              <a:srgbClr val="3FB3BF"/>
            </a:solidFill>
            <a:prstDash val="solid"/>
          </a:ln>
        </p:spPr>
      </p:sp>
      <p:sp>
        <p:nvSpPr>
          <p:cNvPr id="15" name="anim-pt2-glyph"/>
          <p:cNvSpPr txBox="1"/>
          <p:nvPr/>
        </p:nvSpPr>
        <p:spPr>
          <a:xfrm>
            <a:off x="54864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anim-pt2-h"/>
          <p:cNvSpPr txBox="1"/>
          <p:nvPr/>
        </p:nvSpPr>
        <p:spPr>
          <a:xfrm>
            <a:off x="1325880" y="45354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coming</a:t>
            </a:r>
            <a:endParaRPr lang="en-US" sz="1900" dirty="0"/>
          </a:p>
        </p:txBody>
      </p:sp>
      <p:sp>
        <p:nvSpPr>
          <p:cNvPr id="17" name="anim-pt2-b"/>
          <p:cNvSpPr txBox="1"/>
          <p:nvPr/>
        </p:nvSpPr>
        <p:spPr>
          <a:xfrm>
            <a:off x="1325880" y="49194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and every turn matters more in a short year.</a:t>
            </a:r>
            <a:endParaRPr lang="en-US" sz="1500" dirty="0"/>
          </a:p>
        </p:txBody>
      </p:sp>
      <p:sp>
        <p:nvSpPr>
          <p:cNvPr id="18" name="anim-bigcard"/>
          <p:cNvSpPr/>
          <p:nvPr/>
        </p:nvSpPr>
        <p:spPr>
          <a:xfrm>
            <a:off x="6949440" y="2057400"/>
            <a:ext cx="4663440" cy="3566160"/>
          </a:xfrm>
          <a:prstGeom prst="roundRect">
            <a:avLst>
              <a:gd name="adj" fmla="val 4615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anim-big"/>
          <p:cNvSpPr txBox="1"/>
          <p:nvPr/>
        </p:nvSpPr>
        <p:spPr>
          <a:xfrm>
            <a:off x="7269480" y="23317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0B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11000" dirty="0"/>
          </a:p>
        </p:txBody>
      </p:sp>
      <p:sp>
        <p:nvSpPr>
          <p:cNvPr id="20" name="anim-big-l"/>
          <p:cNvSpPr txBox="1"/>
          <p:nvPr/>
        </p:nvSpPr>
        <p:spPr>
          <a:xfrm>
            <a:off x="7269480" y="3931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system-level water shortage for Rabi 2026–27 in Punjab and Sindh</a:t>
            </a:r>
            <a:endParaRPr lang="en-US" sz="1600" dirty="0"/>
          </a:p>
        </p:txBody>
      </p:sp>
      <p:sp>
        <p:nvSpPr>
          <p:cNvPr id="21" name="anim-big-src"/>
          <p:cNvSpPr txBox="1"/>
          <p:nvPr/>
        </p:nvSpPr>
        <p:spPr>
          <a:xfrm>
            <a:off x="7269480" y="4983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9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Associated Press of Pakistan (APP),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7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7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7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9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9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9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1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1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31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1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3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95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95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95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-1097280" y="4754880"/>
            <a:ext cx="2743200" cy="2743200"/>
          </a:xfrm>
          <a:prstGeom prst="ellipse">
            <a:avLst/>
          </a:prstGeom>
          <a:solidFill>
            <a:srgbClr val="3FB3BF">
              <a:alpha val="24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MODEL FOUND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Optimising what exists quietly hurts the tail</a:t>
            </a:r>
            <a:endParaRPr lang="en-US" sz="3600" dirty="0"/>
          </a:p>
        </p:txBody>
      </p:sp>
      <p:sp>
        <p:nvSpPr>
          <p:cNvPr id="5" name="anim-sub"/>
          <p:cNvSpPr txBox="1"/>
          <p:nvPr/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season, same water, same weather: three plans solved under identical conditions (pilot A, Rabi wheat 2027-28).</a:t>
            </a:r>
            <a:endParaRPr lang="en-US" sz="1700" dirty="0"/>
          </a:p>
        </p:txBody>
      </p:sp>
      <p:sp>
        <p:nvSpPr>
          <p:cNvPr id="6" name="anim-c1card"/>
          <p:cNvSpPr/>
          <p:nvPr/>
        </p:nvSpPr>
        <p:spPr>
          <a:xfrm>
            <a:off x="548640" y="1920240"/>
            <a:ext cx="5440680" cy="4160520"/>
          </a:xfrm>
          <a:prstGeom prst="roundRect">
            <a:avLst>
              <a:gd name="adj" fmla="val 3956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7" name="anim-chart1" descr=""/>
          <p:cNvGraphicFramePr/>
          <p:nvPr/>
        </p:nvGraphicFramePr>
        <p:xfrm>
          <a:off x="685800" y="2011680"/>
          <a:ext cx="51663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anim-c2card"/>
          <p:cNvSpPr/>
          <p:nvPr/>
        </p:nvSpPr>
        <p:spPr>
          <a:xfrm>
            <a:off x="6172200" y="1920240"/>
            <a:ext cx="5468112" cy="4160520"/>
          </a:xfrm>
          <a:prstGeom prst="roundRect">
            <a:avLst>
              <a:gd name="adj" fmla="val 3956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9" name="anim-chart2" descr=""/>
          <p:cNvGraphicFramePr/>
          <p:nvPr/>
        </p:nvGraphicFramePr>
        <p:xfrm>
          <a:off x="6309360" y="2011680"/>
          <a:ext cx="5193792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7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9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1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3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9692640" y="-822960"/>
            <a:ext cx="3108960" cy="3108960"/>
          </a:xfrm>
          <a:prstGeom prst="ellipse">
            <a:avLst/>
          </a:prstGeom>
          <a:solidFill>
            <a:srgbClr val="3FB3BF">
              <a:alpha val="26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AABFLOW'S INTEGRATED PLAN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wheat, fairer water, under budget</a:t>
            </a:r>
            <a:endParaRPr lang="en-US" sz="3600" dirty="0"/>
          </a:p>
        </p:txBody>
      </p:sp>
      <p:sp>
        <p:nvSpPr>
          <p:cNvPr id="5" name="anim-sub"/>
          <p:cNvSpPr txBox="1"/>
          <p:nvPr/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best within its candidate options, then checked against the water rules.</a:t>
            </a:r>
            <a:endParaRPr lang="en-US" sz="1700" dirty="0"/>
          </a:p>
        </p:txBody>
      </p:sp>
      <p:sp>
        <p:nvSpPr>
          <p:cNvPr id="6" name="anim-k0"/>
          <p:cNvSpPr/>
          <p:nvPr/>
        </p:nvSpPr>
        <p:spPr>
          <a:xfrm>
            <a:off x="548640" y="2011680"/>
            <a:ext cx="3520440" cy="2651760"/>
          </a:xfrm>
          <a:prstGeom prst="roundRect">
            <a:avLst>
              <a:gd name="adj" fmla="val 6207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anim-k0s-n"/>
          <p:cNvSpPr txBox="1"/>
          <p:nvPr/>
        </p:nvSpPr>
        <p:spPr>
          <a:xfrm>
            <a:off x="868680" y="2286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0B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+18.8%</a:t>
            </a:r>
            <a:endParaRPr lang="en-US" sz="6000" dirty="0"/>
          </a:p>
        </p:txBody>
      </p:sp>
      <p:sp>
        <p:nvSpPr>
          <p:cNvPr id="8" name="anim-k0s-l"/>
          <p:cNvSpPr txBox="1"/>
          <p:nvPr/>
        </p:nvSpPr>
        <p:spPr>
          <a:xfrm>
            <a:off x="868680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wheat than today's routine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129.7 t → 154.1 t</a:t>
            </a:r>
            <a:endParaRPr lang="en-US" sz="1400" dirty="0"/>
          </a:p>
        </p:txBody>
      </p:sp>
      <p:sp>
        <p:nvSpPr>
          <p:cNvPr id="9" name="anim-k1"/>
          <p:cNvSpPr/>
          <p:nvPr/>
        </p:nvSpPr>
        <p:spPr>
          <a:xfrm>
            <a:off x="4343400" y="2011680"/>
            <a:ext cx="3520440" cy="2651760"/>
          </a:xfrm>
          <a:prstGeom prst="roundRect">
            <a:avLst>
              <a:gd name="adj" fmla="val 6207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anim-k1s-n"/>
          <p:cNvSpPr txBox="1"/>
          <p:nvPr/>
        </p:nvSpPr>
        <p:spPr>
          <a:xfrm>
            <a:off x="4663440" y="2286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6F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6000" dirty="0"/>
          </a:p>
        </p:txBody>
      </p:sp>
      <p:sp>
        <p:nvSpPr>
          <p:cNvPr id="11" name="anim-k1s-l"/>
          <p:cNvSpPr txBox="1"/>
          <p:nvPr/>
        </p:nvSpPr>
        <p:spPr>
          <a:xfrm>
            <a:off x="4663440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its water for the worst-off tail field, back from 44% under 'optimise existing'</a:t>
            </a:r>
            <a:endParaRPr lang="en-US" sz="1400" dirty="0"/>
          </a:p>
        </p:txBody>
      </p:sp>
      <p:sp>
        <p:nvSpPr>
          <p:cNvPr id="12" name="anim-k2"/>
          <p:cNvSpPr/>
          <p:nvPr/>
        </p:nvSpPr>
        <p:spPr>
          <a:xfrm>
            <a:off x="8138160" y="2011680"/>
            <a:ext cx="3520440" cy="2651760"/>
          </a:xfrm>
          <a:prstGeom prst="roundRect">
            <a:avLst>
              <a:gd name="adj" fmla="val 6207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anim-k2s-n"/>
          <p:cNvSpPr txBox="1"/>
          <p:nvPr/>
        </p:nvSpPr>
        <p:spPr>
          <a:xfrm>
            <a:off x="8458200" y="2286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6000" dirty="0"/>
          </a:p>
        </p:txBody>
      </p:sp>
      <p:sp>
        <p:nvSpPr>
          <p:cNvPr id="14" name="anim-k2s-l"/>
          <p:cNvSpPr txBox="1"/>
          <p:nvPr/>
        </p:nvSpPr>
        <p:spPr>
          <a:xfrm>
            <a:off x="8458200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Rs 30 lakh budget used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19.5 lakh on 33 works</a:t>
            </a:r>
            <a:endParaRPr lang="en-US" sz="1400" dirty="0"/>
          </a:p>
        </p:txBody>
      </p:sp>
      <p:sp>
        <p:nvSpPr>
          <p:cNvPr id="15" name="anim-honest"/>
          <p:cNvSpPr/>
          <p:nvPr/>
        </p:nvSpPr>
        <p:spPr>
          <a:xfrm>
            <a:off x="548640" y="4937760"/>
            <a:ext cx="11094415" cy="914400"/>
          </a:xfrm>
          <a:prstGeom prst="roundRect">
            <a:avLst>
              <a:gd name="adj" fmla="val 18000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anim-honest-t"/>
          <p:cNvSpPr txBox="1"/>
          <p:nvPr/>
        </p:nvSpPr>
        <p:spPr>
          <a:xfrm>
            <a:off x="868680" y="502920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trade-off: </a:t>
            </a:r>
            <a:pPr indent="0" marL="0">
              <a:buNone/>
            </a:pPr>
            <a:r>
              <a:rPr lang="en-US" sz="16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pumps 8,288 m³ of groundwater where today's routine pumps none, within each well's cap. We say it before anyone asks.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7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9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1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3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3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5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7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7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9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9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5120640" y="6263640"/>
            <a:ext cx="1828800" cy="1828800"/>
          </a:xfrm>
          <a:prstGeom prst="ellipse">
            <a:avLst/>
          </a:prstGeom>
          <a:solidFill>
            <a:srgbClr val="3FB3BF">
              <a:alpha val="22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AI THE CORE? YES: FOUR ENGINES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sees, predicts, plans and explains</a:t>
            </a:r>
            <a:endParaRPr lang="en-US" sz="3600" dirty="0"/>
          </a:p>
        </p:txBody>
      </p:sp>
      <p:sp>
        <p:nvSpPr>
          <p:cNvPr id="5" name="anim-sub"/>
          <p:cNvSpPr txBox="1"/>
          <p:nvPr/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→ simulate → decide → explain and act. Every fact below is read from stored evidence.</a:t>
            </a:r>
            <a:endParaRPr lang="en-US" sz="1700" dirty="0"/>
          </a:p>
        </p:txBody>
      </p:sp>
      <p:sp>
        <p:nvSpPr>
          <p:cNvPr id="6" name="anim-e0"/>
          <p:cNvSpPr/>
          <p:nvPr/>
        </p:nvSpPr>
        <p:spPr>
          <a:xfrm>
            <a:off x="548640" y="1965960"/>
            <a:ext cx="2567864" cy="4069080"/>
          </a:xfrm>
          <a:prstGeom prst="roundRect">
            <a:avLst>
              <a:gd name="adj" fmla="val 6410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anim-e0-icon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6FD6DF">
              <a:alpha val="22000"/>
            </a:srgbClr>
          </a:solidFill>
          <a:ln w="15875">
            <a:solidFill>
              <a:srgbClr val="6FD6DF"/>
            </a:solidFill>
            <a:prstDash val="solid"/>
          </a:ln>
        </p:spPr>
      </p:sp>
      <p:sp>
        <p:nvSpPr>
          <p:cNvPr id="8" name="anim-e0-glyph"/>
          <p:cNvSpPr txBox="1"/>
          <p:nvPr/>
        </p:nvSpPr>
        <p:spPr>
          <a:xfrm>
            <a:off x="82296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9" name="anim-e0-h"/>
          <p:cNvSpPr txBox="1"/>
          <p:nvPr/>
        </p:nvSpPr>
        <p:spPr>
          <a:xfrm>
            <a:off x="1508760" y="2286000"/>
            <a:ext cx="1470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</a:t>
            </a:r>
            <a:endParaRPr lang="en-US" sz="2000" dirty="0"/>
          </a:p>
        </p:txBody>
      </p:sp>
      <p:sp>
        <p:nvSpPr>
          <p:cNvPr id="10" name="anim-e0-n"/>
          <p:cNvSpPr txBox="1"/>
          <p:nvPr/>
        </p:nvSpPr>
        <p:spPr>
          <a:xfrm>
            <a:off x="822960" y="306324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6F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931 → 30</a:t>
            </a:r>
            <a:endParaRPr lang="en-US" sz="4000" dirty="0"/>
          </a:p>
        </p:txBody>
      </p:sp>
      <p:sp>
        <p:nvSpPr>
          <p:cNvPr id="11" name="anim-e0-b"/>
          <p:cNvSpPr txBox="1"/>
          <p:nvPr/>
        </p:nvSpPr>
        <p:spPr>
          <a:xfrm>
            <a:off x="822960" y="397764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fields found on Sentinel-2 by Delineate Anything; review rules and a person kept the 30 clearest</a:t>
            </a:r>
            <a:endParaRPr lang="en-US" sz="1400" dirty="0"/>
          </a:p>
        </p:txBody>
      </p:sp>
      <p:sp>
        <p:nvSpPr>
          <p:cNvPr id="12" name="anim-e1"/>
          <p:cNvSpPr/>
          <p:nvPr/>
        </p:nvSpPr>
        <p:spPr>
          <a:xfrm>
            <a:off x="3390824" y="1965960"/>
            <a:ext cx="2567864" cy="4069080"/>
          </a:xfrm>
          <a:prstGeom prst="roundRect">
            <a:avLst>
              <a:gd name="adj" fmla="val 6410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anim-e1-icon"/>
          <p:cNvSpPr/>
          <p:nvPr/>
        </p:nvSpPr>
        <p:spPr>
          <a:xfrm>
            <a:off x="3665144" y="2240280"/>
            <a:ext cx="566928" cy="566928"/>
          </a:xfrm>
          <a:prstGeom prst="ellipse">
            <a:avLst/>
          </a:prstGeom>
          <a:solidFill>
            <a:srgbClr val="E0B154">
              <a:alpha val="22000"/>
            </a:srgbClr>
          </a:solidFill>
          <a:ln w="15875">
            <a:solidFill>
              <a:srgbClr val="E0B154"/>
            </a:solidFill>
            <a:prstDash val="solid"/>
          </a:ln>
        </p:spPr>
      </p:sp>
      <p:sp>
        <p:nvSpPr>
          <p:cNvPr id="14" name="anim-e1-glyph"/>
          <p:cNvSpPr txBox="1"/>
          <p:nvPr/>
        </p:nvSpPr>
        <p:spPr>
          <a:xfrm>
            <a:off x="3665144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5" name="anim-e1-h"/>
          <p:cNvSpPr txBox="1"/>
          <p:nvPr/>
        </p:nvSpPr>
        <p:spPr>
          <a:xfrm>
            <a:off x="4350944" y="2286000"/>
            <a:ext cx="1470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2000" dirty="0"/>
          </a:p>
        </p:txBody>
      </p:sp>
      <p:sp>
        <p:nvSpPr>
          <p:cNvPr id="16" name="anim-e1-n"/>
          <p:cNvSpPr txBox="1"/>
          <p:nvPr/>
        </p:nvSpPr>
        <p:spPr>
          <a:xfrm>
            <a:off x="3665144" y="306324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E0B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 ms</a:t>
            </a:r>
            <a:endParaRPr lang="en-US" sz="4000" dirty="0"/>
          </a:p>
        </p:txBody>
      </p:sp>
      <p:sp>
        <p:nvSpPr>
          <p:cNvPr id="17" name="anim-e1-b"/>
          <p:cNvSpPr txBox="1"/>
          <p:nvPr/>
        </p:nvSpPr>
        <p:spPr>
          <a:xfrm>
            <a:off x="3665144" y="397764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yield estimate from a model we trained on GPU on 45,619 crop simulations (held-out error ≈ 7%)</a:t>
            </a:r>
            <a:endParaRPr lang="en-US" sz="1400" dirty="0"/>
          </a:p>
        </p:txBody>
      </p:sp>
      <p:sp>
        <p:nvSpPr>
          <p:cNvPr id="18" name="anim-e2"/>
          <p:cNvSpPr/>
          <p:nvPr/>
        </p:nvSpPr>
        <p:spPr>
          <a:xfrm>
            <a:off x="6233008" y="1965960"/>
            <a:ext cx="2567864" cy="4069080"/>
          </a:xfrm>
          <a:prstGeom prst="roundRect">
            <a:avLst>
              <a:gd name="adj" fmla="val 6410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anim-e2-icon"/>
          <p:cNvSpPr/>
          <p:nvPr/>
        </p:nvSpPr>
        <p:spPr>
          <a:xfrm>
            <a:off x="6507328" y="2240280"/>
            <a:ext cx="566928" cy="566928"/>
          </a:xfrm>
          <a:prstGeom prst="ellipse">
            <a:avLst/>
          </a:prstGeom>
          <a:solidFill>
            <a:srgbClr val="3FB3BF">
              <a:alpha val="22000"/>
            </a:srgbClr>
          </a:solidFill>
          <a:ln w="15875">
            <a:solidFill>
              <a:srgbClr val="3FB3BF"/>
            </a:solidFill>
            <a:prstDash val="solid"/>
          </a:ln>
        </p:spPr>
      </p:sp>
      <p:sp>
        <p:nvSpPr>
          <p:cNvPr id="20" name="anim-e2-glyph"/>
          <p:cNvSpPr txBox="1"/>
          <p:nvPr/>
        </p:nvSpPr>
        <p:spPr>
          <a:xfrm>
            <a:off x="6507328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21" name="anim-e2-h"/>
          <p:cNvSpPr txBox="1"/>
          <p:nvPr/>
        </p:nvSpPr>
        <p:spPr>
          <a:xfrm>
            <a:off x="7193128" y="2286000"/>
            <a:ext cx="1470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2000" dirty="0"/>
          </a:p>
        </p:txBody>
      </p:sp>
      <p:sp>
        <p:nvSpPr>
          <p:cNvPr id="22" name="anim-e2-n"/>
          <p:cNvSpPr txBox="1"/>
          <p:nvPr/>
        </p:nvSpPr>
        <p:spPr>
          <a:xfrm>
            <a:off x="6507328" y="306324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3FB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7,745</a:t>
            </a:r>
            <a:endParaRPr lang="en-US" sz="4000" dirty="0"/>
          </a:p>
        </p:txBody>
      </p:sp>
      <p:sp>
        <p:nvSpPr>
          <p:cNvPr id="23" name="anim-e2-b"/>
          <p:cNvSpPr txBox="1"/>
          <p:nvPr/>
        </p:nvSpPr>
        <p:spPr>
          <a:xfrm>
            <a:off x="6507328" y="397764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options searched by an exact optimiser; best plan proven in 0.37 s</a:t>
            </a:r>
            <a:endParaRPr lang="en-US" sz="1400" dirty="0"/>
          </a:p>
        </p:txBody>
      </p:sp>
      <p:sp>
        <p:nvSpPr>
          <p:cNvPr id="24" name="anim-e3"/>
          <p:cNvSpPr/>
          <p:nvPr/>
        </p:nvSpPr>
        <p:spPr>
          <a:xfrm>
            <a:off x="9075191" y="1965960"/>
            <a:ext cx="2567864" cy="4069080"/>
          </a:xfrm>
          <a:prstGeom prst="roundRect">
            <a:avLst>
              <a:gd name="adj" fmla="val 6410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anim-e3-icon"/>
          <p:cNvSpPr/>
          <p:nvPr/>
        </p:nvSpPr>
        <p:spPr>
          <a:xfrm>
            <a:off x="9349511" y="2240280"/>
            <a:ext cx="566928" cy="566928"/>
          </a:xfrm>
          <a:prstGeom prst="ellipse">
            <a:avLst/>
          </a:prstGeom>
          <a:solidFill>
            <a:srgbClr val="86B996">
              <a:alpha val="22000"/>
            </a:srgbClr>
          </a:solidFill>
          <a:ln w="15875">
            <a:solidFill>
              <a:srgbClr val="86B996"/>
            </a:solidFill>
            <a:prstDash val="solid"/>
          </a:ln>
        </p:spPr>
      </p:sp>
      <p:sp>
        <p:nvSpPr>
          <p:cNvPr id="26" name="anim-e3-glyph"/>
          <p:cNvSpPr txBox="1"/>
          <p:nvPr/>
        </p:nvSpPr>
        <p:spPr>
          <a:xfrm>
            <a:off x="9349511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6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anim-e3-h"/>
          <p:cNvSpPr txBox="1"/>
          <p:nvPr/>
        </p:nvSpPr>
        <p:spPr>
          <a:xfrm>
            <a:off x="10035311" y="2286000"/>
            <a:ext cx="1470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</a:t>
            </a:r>
            <a:endParaRPr lang="en-US" sz="2000" dirty="0"/>
          </a:p>
        </p:txBody>
      </p:sp>
      <p:sp>
        <p:nvSpPr>
          <p:cNvPr id="28" name="anim-e3-n"/>
          <p:cNvSpPr txBox="1"/>
          <p:nvPr/>
        </p:nvSpPr>
        <p:spPr>
          <a:xfrm>
            <a:off x="9349511" y="306324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86B9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tools</a:t>
            </a:r>
            <a:endParaRPr lang="en-US" sz="4000" dirty="0"/>
          </a:p>
        </p:txBody>
      </p:sp>
      <p:sp>
        <p:nvSpPr>
          <p:cNvPr id="29" name="anim-e3-b"/>
          <p:cNvSpPr txBox="1"/>
          <p:nvPr/>
        </p:nvSpPr>
        <p:spPr>
          <a:xfrm>
            <a:off x="9349511" y="397764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GPT-6 Luna runs the app's real tools, in English or Urdu; it never types a number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7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7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7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7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7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9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9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9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9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9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1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1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31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31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310"/>
                            </p:stCondLst>
                            <p:childTnLst>
                              <p:par>
                                <p:cTn id="10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10"/>
                            </p:stCondLst>
                            <p:childTnLst>
                              <p:par>
                                <p:cTn id="1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630"/>
                            </p:stCondLst>
                            <p:childTnLst>
                              <p:par>
                                <p:cTn id="1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630"/>
                            </p:stCondLst>
                            <p:childTnLst>
                              <p:par>
                                <p:cTn id="1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630"/>
                            </p:stCondLst>
                            <p:childTnLst>
                              <p:par>
                                <p:cTn id="1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630"/>
                            </p:stCondLst>
                            <p:childTnLst>
                              <p:par>
                                <p:cTn id="1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630"/>
                            </p:stCondLst>
                            <p:childTnLst>
                              <p:par>
                                <p:cTn id="1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630"/>
                            </p:stCondLst>
                            <p:childTnLst>
                              <p:par>
                                <p:cTn id="1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11064240" y="5806440"/>
            <a:ext cx="1463040" cy="1463040"/>
          </a:xfrm>
          <a:prstGeom prst="ellipse">
            <a:avLst/>
          </a:prstGeom>
          <a:solidFill>
            <a:srgbClr val="3FB3BF">
              <a:alpha val="30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 · SEES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found every field from space</a:t>
            </a:r>
            <a:endParaRPr lang="en-US" sz="3600" dirty="0"/>
          </a:p>
        </p:txBody>
      </p:sp>
      <p:sp>
        <p:nvSpPr>
          <p:cNvPr id="5" name="anim-shot-frame"/>
          <p:cNvSpPr/>
          <p:nvPr/>
        </p:nvSpPr>
        <p:spPr>
          <a:xfrm>
            <a:off x="493776" y="1362456"/>
            <a:ext cx="7059168" cy="4018788"/>
          </a:xfrm>
          <a:prstGeom prst="roundRect">
            <a:avLst>
              <a:gd name="adj" fmla="val 3641"/>
            </a:avLst>
          </a:prstGeom>
          <a:solidFill>
            <a:srgbClr val="1B3331"/>
          </a:solidFill>
          <a:ln w="12700">
            <a:solidFill>
              <a:srgbClr val="087F8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6" name="anim-shot" descr="/repo/docs/pitch/shots/04-ai-raw-fie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3909060"/>
          </a:xfrm>
          <a:prstGeom prst="rect">
            <a:avLst/>
          </a:prstGeom>
        </p:spPr>
      </p:pic>
      <p:sp>
        <p:nvSpPr>
          <p:cNvPr id="7" name="anim-s1-n"/>
          <p:cNvSpPr txBox="1"/>
          <p:nvPr/>
        </p:nvSpPr>
        <p:spPr>
          <a:xfrm>
            <a:off x="8001000" y="1600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E0B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931</a:t>
            </a:r>
            <a:endParaRPr lang="en-US" sz="5400" dirty="0"/>
          </a:p>
        </p:txBody>
      </p:sp>
      <p:sp>
        <p:nvSpPr>
          <p:cNvPr id="8" name="anim-s1-l"/>
          <p:cNvSpPr txBox="1"/>
          <p:nvPr/>
        </p:nvSpPr>
        <p:spPr>
          <a:xfrm>
            <a:off x="8001000" y="2468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field outlines the AI drew on one Sentinel-2 image (pilot A)</a:t>
            </a:r>
            <a:endParaRPr lang="en-US" sz="1400" dirty="0"/>
          </a:p>
        </p:txBody>
      </p:sp>
      <p:sp>
        <p:nvSpPr>
          <p:cNvPr id="9" name="anim-s2-n"/>
          <p:cNvSpPr txBox="1"/>
          <p:nvPr/>
        </p:nvSpPr>
        <p:spPr>
          <a:xfrm>
            <a:off x="8001000" y="32918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6F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10" name="anim-s2-l"/>
          <p:cNvSpPr txBox="1"/>
          <p:nvPr/>
        </p:nvSpPr>
        <p:spPr>
          <a:xfrm>
            <a:off x="8001000" y="4160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by our review rules, then checked by a person</a:t>
            </a:r>
            <a:endParaRPr lang="en-US" sz="1400" dirty="0"/>
          </a:p>
        </p:txBody>
      </p:sp>
      <p:sp>
        <p:nvSpPr>
          <p:cNvPr id="11" name="anim-s3"/>
          <p:cNvSpPr txBox="1"/>
          <p:nvPr/>
        </p:nvSpPr>
        <p:spPr>
          <a:xfrm>
            <a:off x="8001000" y="4983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new area and the same pipeline onboards it: pilot B v2 was published this way.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7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9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1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-731520" y="-731520"/>
            <a:ext cx="2377440" cy="2377440"/>
          </a:xfrm>
          <a:prstGeom prst="ellipse">
            <a:avLst/>
          </a:prstGeom>
          <a:solidFill>
            <a:srgbClr val="3FB3BF">
              <a:alpha val="28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 · PREDICTS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 a slider, get a crop yield in milliseconds</a:t>
            </a:r>
            <a:endParaRPr lang="en-US" sz="3600" dirty="0"/>
          </a:p>
        </p:txBody>
      </p:sp>
      <p:sp>
        <p:nvSpPr>
          <p:cNvPr id="5" name="anim-p1-n"/>
          <p:cNvSpPr txBox="1"/>
          <p:nvPr/>
        </p:nvSpPr>
        <p:spPr>
          <a:xfrm>
            <a:off x="548640" y="1600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0B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45,619</a:t>
            </a:r>
            <a:endParaRPr lang="en-US" sz="4800" dirty="0"/>
          </a:p>
        </p:txBody>
      </p:sp>
      <p:sp>
        <p:nvSpPr>
          <p:cNvPr id="6" name="anim-p1-l"/>
          <p:cNvSpPr txBox="1"/>
          <p:nvPr/>
        </p:nvSpPr>
        <p:spPr>
          <a:xfrm>
            <a:off x="548640" y="2468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AquaCrop simulations we ran and stored, then trained a model on (GPU)</a:t>
            </a:r>
            <a:endParaRPr lang="en-US" sz="1400" dirty="0"/>
          </a:p>
        </p:txBody>
      </p:sp>
      <p:sp>
        <p:nvSpPr>
          <p:cNvPr id="7" name="anim-p2-n"/>
          <p:cNvSpPr txBox="1"/>
          <p:nvPr/>
        </p:nvSpPr>
        <p:spPr>
          <a:xfrm>
            <a:off x="548640" y="32461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6F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7%</a:t>
            </a:r>
            <a:endParaRPr lang="en-US" sz="4800" dirty="0"/>
          </a:p>
        </p:txBody>
      </p:sp>
      <p:sp>
        <p:nvSpPr>
          <p:cNvPr id="8" name="anim-p2-l"/>
          <p:cNvSpPr txBox="1"/>
          <p:nvPr/>
        </p:nvSpPr>
        <p:spPr>
          <a:xfrm>
            <a:off x="54864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error (wheat nMAE 0.071), gated on years the model never saw</a:t>
            </a:r>
            <a:endParaRPr lang="en-US" sz="1400" dirty="0"/>
          </a:p>
        </p:txBody>
      </p:sp>
      <p:sp>
        <p:nvSpPr>
          <p:cNvPr id="9" name="anim-p3"/>
          <p:cNvSpPr txBox="1"/>
          <p:nvPr/>
        </p:nvSpPr>
        <p:spPr>
          <a:xfrm>
            <a:off x="548640" y="4983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“approximate preview”; one click runs the exact crop model side by side.</a:t>
            </a:r>
            <a:endParaRPr lang="en-US" sz="1400" dirty="0"/>
          </a:p>
        </p:txBody>
      </p:sp>
      <p:sp>
        <p:nvSpPr>
          <p:cNvPr id="10" name="anim-shot-frame"/>
          <p:cNvSpPr/>
          <p:nvPr/>
        </p:nvSpPr>
        <p:spPr>
          <a:xfrm>
            <a:off x="4562856" y="1362456"/>
            <a:ext cx="7150608" cy="4070223"/>
          </a:xfrm>
          <a:prstGeom prst="roundRect">
            <a:avLst>
              <a:gd name="adj" fmla="val 3594"/>
            </a:avLst>
          </a:prstGeom>
          <a:solidFill>
            <a:srgbClr val="1B3331"/>
          </a:solidFill>
          <a:ln w="12700">
            <a:solidFill>
              <a:srgbClr val="087F8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1" name="anim-shot" descr="/repo/docs/pitch/shots/05-instan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417320"/>
            <a:ext cx="7040880" cy="39604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7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9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1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1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10424160" y="-548640"/>
            <a:ext cx="2194560" cy="2194560"/>
          </a:xfrm>
          <a:prstGeom prst="ellipse">
            <a:avLst/>
          </a:prstGeom>
          <a:solidFill>
            <a:srgbClr val="3FB3BF">
              <a:alpha val="26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3 · PLANS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tells a committee when not to spend</a:t>
            </a:r>
            <a:endParaRPr lang="en-US" sz="3600" dirty="0"/>
          </a:p>
        </p:txBody>
      </p:sp>
      <p:sp>
        <p:nvSpPr>
          <p:cNvPr id="5" name="anim-sub"/>
          <p:cNvSpPr txBox="1"/>
          <p:nvPr/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budget settings, each solved to a proven optimum (frontier analysis).</a:t>
            </a:r>
            <a:endParaRPr lang="en-US" sz="1700" dirty="0"/>
          </a:p>
        </p:txBody>
      </p:sp>
      <p:sp>
        <p:nvSpPr>
          <p:cNvPr id="6" name="anim-fcard"/>
          <p:cNvSpPr/>
          <p:nvPr/>
        </p:nvSpPr>
        <p:spPr>
          <a:xfrm>
            <a:off x="548640" y="1920240"/>
            <a:ext cx="6949440" cy="4160520"/>
          </a:xfrm>
          <a:prstGeom prst="roundRect">
            <a:avLst>
              <a:gd name="adj" fmla="val 3956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7" name="anim-fchart" descr=""/>
          <p:cNvGraphicFramePr/>
          <p:nvPr/>
        </p:nvGraphicFramePr>
        <p:xfrm>
          <a:off x="731520" y="2011680"/>
          <a:ext cx="6583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anim-f1-n"/>
          <p:cNvSpPr txBox="1"/>
          <p:nvPr/>
        </p:nvSpPr>
        <p:spPr>
          <a:xfrm>
            <a:off x="7863840" y="20116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E0B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+12.4 t</a:t>
            </a:r>
            <a:endParaRPr lang="en-US" sz="5000" dirty="0"/>
          </a:p>
        </p:txBody>
      </p:sp>
      <p:sp>
        <p:nvSpPr>
          <p:cNvPr id="9" name="anim-f1-l"/>
          <p:cNvSpPr txBox="1"/>
          <p:nvPr/>
        </p:nvSpPr>
        <p:spPr>
          <a:xfrm>
            <a:off x="7863840" y="2880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first Rs 5 lakh</a:t>
            </a:r>
            <a:endParaRPr lang="en-US" sz="1400" dirty="0"/>
          </a:p>
        </p:txBody>
      </p:sp>
      <p:sp>
        <p:nvSpPr>
          <p:cNvPr id="10" name="anim-f2-n"/>
          <p:cNvSpPr txBox="1"/>
          <p:nvPr/>
        </p:nvSpPr>
        <p:spPr>
          <a:xfrm>
            <a:off x="7863840" y="3520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A9B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+1.7 t</a:t>
            </a:r>
            <a:endParaRPr lang="en-US" sz="5000" dirty="0"/>
          </a:p>
        </p:txBody>
      </p:sp>
      <p:sp>
        <p:nvSpPr>
          <p:cNvPr id="11" name="anim-f2-l"/>
          <p:cNvSpPr txBox="1"/>
          <p:nvPr/>
        </p:nvSpPr>
        <p:spPr>
          <a:xfrm>
            <a:off x="7863840" y="4389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next Rs 75 lakh</a:t>
            </a:r>
            <a:endParaRPr lang="en-US" sz="1400" dirty="0"/>
          </a:p>
        </p:txBody>
      </p:sp>
      <p:sp>
        <p:nvSpPr>
          <p:cNvPr id="12" name="anim-f3"/>
          <p:cNvSpPr txBox="1"/>
          <p:nvPr/>
        </p:nvSpPr>
        <p:spPr>
          <a:xfrm>
            <a:off x="7863840" y="5074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95% tail floor at Rs 30 lakh is proven infeasible: an honest “no”, not a fake “yes”.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7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9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1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1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3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3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5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-1737360" y="5486400"/>
            <a:ext cx="2377440" cy="2377440"/>
          </a:xfrm>
          <a:prstGeom prst="ellipse">
            <a:avLst/>
          </a:prstGeom>
          <a:solidFill>
            <a:srgbClr val="3FB3BF">
              <a:alpha val="26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robust plan holds in all 9 tested seasons</a:t>
            </a:r>
            <a:endParaRPr lang="en-US" sz="3600" dirty="0"/>
          </a:p>
        </p:txBody>
      </p:sp>
      <p:sp>
        <p:nvSpPr>
          <p:cNvPr id="5" name="anim-sub"/>
          <p:cNvSpPr txBox="1"/>
          <p:nvPr/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weather years × 3 canal supplies. A plan that breaks a water rule gets no yield, never a made-up one.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turns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water cut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closure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231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year</a:t>
            </a:r>
            <a:endParaRPr lang="en-US" sz="1500" dirty="0"/>
          </a:p>
        </p:txBody>
      </p:sp>
      <p:sp>
        <p:nvSpPr>
          <p:cNvPr id="10" name="anim-cell00"/>
          <p:cNvSpPr/>
          <p:nvPr/>
        </p:nvSpPr>
        <p:spPr>
          <a:xfrm>
            <a:off x="2468880" y="242316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87F8C">
              <a:alpha val="80000"/>
            </a:srgbClr>
          </a:solidFill>
          <a:ln w="12700">
            <a:solidFill>
              <a:srgbClr val="3FB3BF"/>
            </a:solidFill>
            <a:prstDash val="solid"/>
          </a:ln>
        </p:spPr>
      </p:sp>
      <p:sp>
        <p:nvSpPr>
          <p:cNvPr id="11" name="anim-cell00-t"/>
          <p:cNvSpPr txBox="1"/>
          <p:nvPr/>
        </p:nvSpPr>
        <p:spPr>
          <a:xfrm>
            <a:off x="2468880" y="24231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deliverable
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 t</a:t>
            </a:r>
            <a:endParaRPr lang="en-US" sz="1200" dirty="0"/>
          </a:p>
        </p:txBody>
      </p:sp>
      <p:sp>
        <p:nvSpPr>
          <p:cNvPr id="12" name="anim-cell01"/>
          <p:cNvSpPr/>
          <p:nvPr/>
        </p:nvSpPr>
        <p:spPr>
          <a:xfrm>
            <a:off x="4572000" y="242316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87F8C">
              <a:alpha val="80000"/>
            </a:srgbClr>
          </a:solidFill>
          <a:ln w="12700">
            <a:solidFill>
              <a:srgbClr val="3FB3BF"/>
            </a:solidFill>
            <a:prstDash val="solid"/>
          </a:ln>
        </p:spPr>
      </p:sp>
      <p:sp>
        <p:nvSpPr>
          <p:cNvPr id="13" name="anim-cell01-t"/>
          <p:cNvSpPr txBox="1"/>
          <p:nvPr/>
        </p:nvSpPr>
        <p:spPr>
          <a:xfrm>
            <a:off x="4572000" y="24231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deliverable
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 t</a:t>
            </a:r>
            <a:endParaRPr lang="en-US" sz="1200" dirty="0"/>
          </a:p>
        </p:txBody>
      </p:sp>
      <p:sp>
        <p:nvSpPr>
          <p:cNvPr id="14" name="anim-cell02"/>
          <p:cNvSpPr/>
          <p:nvPr/>
        </p:nvSpPr>
        <p:spPr>
          <a:xfrm>
            <a:off x="6675120" y="242316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87F8C">
              <a:alpha val="80000"/>
            </a:srgbClr>
          </a:solidFill>
          <a:ln w="12700">
            <a:solidFill>
              <a:srgbClr val="3FB3BF"/>
            </a:solidFill>
            <a:prstDash val="solid"/>
          </a:ln>
        </p:spPr>
      </p:sp>
      <p:sp>
        <p:nvSpPr>
          <p:cNvPr id="15" name="anim-cell02-t"/>
          <p:cNvSpPr txBox="1"/>
          <p:nvPr/>
        </p:nvSpPr>
        <p:spPr>
          <a:xfrm>
            <a:off x="6675120" y="24231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deliverable
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 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3872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year</a:t>
            </a:r>
            <a:endParaRPr lang="en-US" sz="1500" dirty="0"/>
          </a:p>
        </p:txBody>
      </p:sp>
      <p:sp>
        <p:nvSpPr>
          <p:cNvPr id="17" name="anim-cell10"/>
          <p:cNvSpPr/>
          <p:nvPr/>
        </p:nvSpPr>
        <p:spPr>
          <a:xfrm>
            <a:off x="2468880" y="3538728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87F8C">
              <a:alpha val="62000"/>
            </a:srgbClr>
          </a:solidFill>
          <a:ln w="12700">
            <a:solidFill>
              <a:srgbClr val="3FB3BF"/>
            </a:solidFill>
            <a:prstDash val="solid"/>
          </a:ln>
        </p:spPr>
      </p:sp>
      <p:sp>
        <p:nvSpPr>
          <p:cNvPr id="18" name="anim-cell10-t"/>
          <p:cNvSpPr txBox="1"/>
          <p:nvPr/>
        </p:nvSpPr>
        <p:spPr>
          <a:xfrm>
            <a:off x="2468880" y="3538728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deliverable
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126.8 t</a:t>
            </a:r>
            <a:endParaRPr lang="en-US" sz="1200" dirty="0"/>
          </a:p>
        </p:txBody>
      </p:sp>
      <p:sp>
        <p:nvSpPr>
          <p:cNvPr id="19" name="anim-cell11"/>
          <p:cNvSpPr/>
          <p:nvPr/>
        </p:nvSpPr>
        <p:spPr>
          <a:xfrm>
            <a:off x="4572000" y="3538728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87F8C">
              <a:alpha val="62000"/>
            </a:srgbClr>
          </a:solidFill>
          <a:ln w="12700">
            <a:solidFill>
              <a:srgbClr val="3FB3BF"/>
            </a:solidFill>
            <a:prstDash val="solid"/>
          </a:ln>
        </p:spPr>
      </p:sp>
      <p:sp>
        <p:nvSpPr>
          <p:cNvPr id="20" name="anim-cell11-t"/>
          <p:cNvSpPr txBox="1"/>
          <p:nvPr/>
        </p:nvSpPr>
        <p:spPr>
          <a:xfrm>
            <a:off x="4572000" y="3538728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deliverable
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126.8 t</a:t>
            </a:r>
            <a:endParaRPr lang="en-US" sz="1200" dirty="0"/>
          </a:p>
        </p:txBody>
      </p:sp>
      <p:sp>
        <p:nvSpPr>
          <p:cNvPr id="21" name="anim-cell12"/>
          <p:cNvSpPr/>
          <p:nvPr/>
        </p:nvSpPr>
        <p:spPr>
          <a:xfrm>
            <a:off x="6675120" y="3538728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87F8C">
              <a:alpha val="62000"/>
            </a:srgbClr>
          </a:solidFill>
          <a:ln w="12700">
            <a:solidFill>
              <a:srgbClr val="3FB3BF"/>
            </a:solidFill>
            <a:prstDash val="solid"/>
          </a:ln>
        </p:spPr>
      </p:sp>
      <p:sp>
        <p:nvSpPr>
          <p:cNvPr id="22" name="anim-cell12-t"/>
          <p:cNvSpPr txBox="1"/>
          <p:nvPr/>
        </p:nvSpPr>
        <p:spPr>
          <a:xfrm>
            <a:off x="6675120" y="3538728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deliverable
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126.8 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54296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year</a:t>
            </a:r>
            <a:endParaRPr lang="en-US" sz="1500" dirty="0"/>
          </a:p>
        </p:txBody>
      </p:sp>
      <p:sp>
        <p:nvSpPr>
          <p:cNvPr id="24" name="anim-cell20"/>
          <p:cNvSpPr/>
          <p:nvPr/>
        </p:nvSpPr>
        <p:spPr>
          <a:xfrm>
            <a:off x="2468880" y="4654296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87F8C">
              <a:alpha val="44000"/>
            </a:srgbClr>
          </a:solidFill>
          <a:ln w="12700">
            <a:solidFill>
              <a:srgbClr val="3FB3BF"/>
            </a:solidFill>
            <a:prstDash val="solid"/>
          </a:ln>
        </p:spPr>
      </p:sp>
      <p:sp>
        <p:nvSpPr>
          <p:cNvPr id="25" name="anim-cell20-t"/>
          <p:cNvSpPr txBox="1"/>
          <p:nvPr/>
        </p:nvSpPr>
        <p:spPr>
          <a:xfrm>
            <a:off x="2468880" y="4654296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deliverable
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175.7 t</a:t>
            </a:r>
            <a:endParaRPr lang="en-US" sz="1200" dirty="0"/>
          </a:p>
        </p:txBody>
      </p:sp>
      <p:sp>
        <p:nvSpPr>
          <p:cNvPr id="26" name="anim-cell21"/>
          <p:cNvSpPr/>
          <p:nvPr/>
        </p:nvSpPr>
        <p:spPr>
          <a:xfrm>
            <a:off x="4572000" y="4654296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87F8C">
              <a:alpha val="44000"/>
            </a:srgbClr>
          </a:solidFill>
          <a:ln w="12700">
            <a:solidFill>
              <a:srgbClr val="3FB3BF"/>
            </a:solidFill>
            <a:prstDash val="solid"/>
          </a:ln>
        </p:spPr>
      </p:sp>
      <p:sp>
        <p:nvSpPr>
          <p:cNvPr id="27" name="anim-cell21-t"/>
          <p:cNvSpPr txBox="1"/>
          <p:nvPr/>
        </p:nvSpPr>
        <p:spPr>
          <a:xfrm>
            <a:off x="4572000" y="4654296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deliverable
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175.7 t</a:t>
            </a:r>
            <a:endParaRPr lang="en-US" sz="1200" dirty="0"/>
          </a:p>
        </p:txBody>
      </p:sp>
      <p:sp>
        <p:nvSpPr>
          <p:cNvPr id="28" name="anim-cell22"/>
          <p:cNvSpPr/>
          <p:nvPr/>
        </p:nvSpPr>
        <p:spPr>
          <a:xfrm>
            <a:off x="6675120" y="4654296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87F8C">
              <a:alpha val="44000"/>
            </a:srgbClr>
          </a:solidFill>
          <a:ln w="12700">
            <a:solidFill>
              <a:srgbClr val="3FB3BF"/>
            </a:solidFill>
            <a:prstDash val="solid"/>
          </a:ln>
        </p:spPr>
      </p:sp>
      <p:sp>
        <p:nvSpPr>
          <p:cNvPr id="29" name="anim-cell22-t"/>
          <p:cNvSpPr txBox="1"/>
          <p:nvPr/>
        </p:nvSpPr>
        <p:spPr>
          <a:xfrm>
            <a:off x="6675120" y="4654296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deliverable
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175.7 t</a:t>
            </a:r>
            <a:endParaRPr lang="en-US" sz="1200" dirty="0"/>
          </a:p>
        </p:txBody>
      </p:sp>
      <p:sp>
        <p:nvSpPr>
          <p:cNvPr id="30" name="anim-scard"/>
          <p:cNvSpPr/>
          <p:nvPr/>
        </p:nvSpPr>
        <p:spPr>
          <a:xfrm>
            <a:off x="8732520" y="1965960"/>
            <a:ext cx="2907792" cy="3611880"/>
          </a:xfrm>
          <a:prstGeom prst="roundRect">
            <a:avLst>
              <a:gd name="adj" fmla="val 5660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anim-stext"/>
          <p:cNvSpPr txBox="1"/>
          <p:nvPr/>
        </p:nvSpPr>
        <p:spPr>
          <a:xfrm>
            <a:off x="8961120" y="214884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C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with a price tag
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robust plan (R) is chosen to survive the bad states. In a typical year it grows 126.8 t, below the typical-year plan's 154.1 t. The committee sees that price before choosing.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7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9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1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1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3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3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95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5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7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7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9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9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1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91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230"/>
                            </p:stCondLst>
                            <p:childTnLst>
                              <p:par>
                                <p:cTn id="10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230"/>
                            </p:stCondLst>
                            <p:childTnLst>
                              <p:par>
                                <p:cTn id="1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550"/>
                            </p:stCondLst>
                            <p:childTnLst>
                              <p:par>
                                <p:cTn id="1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870"/>
                            </p:stCondLst>
                            <p:childTnLst>
                              <p:par>
                                <p:cTn id="1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5486400" y="-1097280"/>
            <a:ext cx="2377440" cy="2377440"/>
          </a:xfrm>
          <a:prstGeom prst="ellipse">
            <a:avLst/>
          </a:prstGeom>
          <a:solidFill>
            <a:srgbClr val="3FB3BF">
              <a:alpha val="24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· EXPLAINS AND ACTS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sentence in, a season plan out</a:t>
            </a:r>
            <a:endParaRPr lang="en-US" sz="3600" dirty="0"/>
          </a:p>
        </p:txBody>
      </p:sp>
      <p:sp>
        <p:nvSpPr>
          <p:cNvPr id="5" name="anim-goal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F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have Rs 10 lakh. Don't hurt the tail farmers, and make sure it survives a dry year.”</a:t>
            </a:r>
            <a:endParaRPr lang="en-US" sz="2000" dirty="0"/>
          </a:p>
        </p:txBody>
      </p:sp>
      <p:sp>
        <p:nvSpPr>
          <p:cNvPr id="6" name="anim-shot-frame"/>
          <p:cNvSpPr/>
          <p:nvPr/>
        </p:nvSpPr>
        <p:spPr>
          <a:xfrm>
            <a:off x="493776" y="1911096"/>
            <a:ext cx="7196328" cy="4095941"/>
          </a:xfrm>
          <a:prstGeom prst="roundRect">
            <a:avLst>
              <a:gd name="adj" fmla="val 3572"/>
            </a:avLst>
          </a:prstGeom>
          <a:solidFill>
            <a:srgbClr val="1B3331"/>
          </a:solidFill>
          <a:ln w="12700">
            <a:solidFill>
              <a:srgbClr val="087F8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7" name="anim-shot" descr="/repo/docs/pitch/shots/08-plan-sea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7086600" cy="3986213"/>
          </a:xfrm>
          <a:prstGeom prst="rect">
            <a:avLst/>
          </a:prstGeom>
        </p:spPr>
      </p:pic>
      <p:sp>
        <p:nvSpPr>
          <p:cNvPr id="8" name="anim-ps0-icon"/>
          <p:cNvSpPr/>
          <p:nvPr/>
        </p:nvSpPr>
        <p:spPr>
          <a:xfrm>
            <a:off x="8001000" y="2011680"/>
            <a:ext cx="566928" cy="566928"/>
          </a:xfrm>
          <a:prstGeom prst="ellipse">
            <a:avLst/>
          </a:prstGeom>
          <a:solidFill>
            <a:srgbClr val="86B996">
              <a:alpha val="22000"/>
            </a:srgbClr>
          </a:solidFill>
          <a:ln w="15875">
            <a:solidFill>
              <a:srgbClr val="86B996"/>
            </a:solidFill>
            <a:prstDash val="solid"/>
          </a:ln>
        </p:spPr>
      </p:sp>
      <p:sp>
        <p:nvSpPr>
          <p:cNvPr id="9" name="anim-ps0-glyph"/>
          <p:cNvSpPr txBox="1"/>
          <p:nvPr/>
        </p:nvSpPr>
        <p:spPr>
          <a:xfrm>
            <a:off x="800100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6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anim-ps0-h"/>
          <p:cNvSpPr txBox="1"/>
          <p:nvPr/>
        </p:nvSpPr>
        <p:spPr>
          <a:xfrm>
            <a:off x="873252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goal</a:t>
            </a:r>
            <a:endParaRPr lang="en-US" sz="1700" dirty="0"/>
          </a:p>
        </p:txBody>
      </p:sp>
      <p:sp>
        <p:nvSpPr>
          <p:cNvPr id="11" name="anim-ps0-b"/>
          <p:cNvSpPr txBox="1"/>
          <p:nvPr/>
        </p:nvSpPr>
        <p:spPr>
          <a:xfrm>
            <a:off x="8732520" y="23134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watercourse, solves the plan ladder and a what-if</a:t>
            </a:r>
            <a:endParaRPr lang="en-US" sz="1300" dirty="0"/>
          </a:p>
        </p:txBody>
      </p:sp>
      <p:sp>
        <p:nvSpPr>
          <p:cNvPr id="12" name="anim-ps1-icon"/>
          <p:cNvSpPr/>
          <p:nvPr/>
        </p:nvSpPr>
        <p:spPr>
          <a:xfrm>
            <a:off x="8001000" y="3035808"/>
            <a:ext cx="566928" cy="566928"/>
          </a:xfrm>
          <a:prstGeom prst="ellipse">
            <a:avLst/>
          </a:prstGeom>
          <a:solidFill>
            <a:srgbClr val="86B996">
              <a:alpha val="22000"/>
            </a:srgbClr>
          </a:solidFill>
          <a:ln w="15875">
            <a:solidFill>
              <a:srgbClr val="86B996"/>
            </a:solidFill>
            <a:prstDash val="solid"/>
          </a:ln>
        </p:spPr>
      </p:sp>
      <p:sp>
        <p:nvSpPr>
          <p:cNvPr id="13" name="anim-ps1-glyph"/>
          <p:cNvSpPr txBox="1"/>
          <p:nvPr/>
        </p:nvSpPr>
        <p:spPr>
          <a:xfrm>
            <a:off x="8001000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6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anim-ps1-h"/>
          <p:cNvSpPr txBox="1"/>
          <p:nvPr/>
        </p:nvSpPr>
        <p:spPr>
          <a:xfrm>
            <a:off x="8732520" y="2990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it</a:t>
            </a:r>
            <a:endParaRPr lang="en-US" sz="1700" dirty="0"/>
          </a:p>
        </p:txBody>
      </p:sp>
      <p:sp>
        <p:nvSpPr>
          <p:cNvPr id="15" name="anim-ps1-b"/>
          <p:cNvSpPr txBox="1"/>
          <p:nvPr/>
        </p:nvSpPr>
        <p:spPr>
          <a:xfrm>
            <a:off x="873252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frontier, stress test, who gains and who loses</a:t>
            </a:r>
            <a:endParaRPr lang="en-US" sz="1300" dirty="0"/>
          </a:p>
        </p:txBody>
      </p:sp>
      <p:sp>
        <p:nvSpPr>
          <p:cNvPr id="16" name="anim-ps2-icon"/>
          <p:cNvSpPr/>
          <p:nvPr/>
        </p:nvSpPr>
        <p:spPr>
          <a:xfrm>
            <a:off x="8001000" y="4059936"/>
            <a:ext cx="566928" cy="566928"/>
          </a:xfrm>
          <a:prstGeom prst="ellipse">
            <a:avLst/>
          </a:prstGeom>
          <a:solidFill>
            <a:srgbClr val="86B996">
              <a:alpha val="22000"/>
            </a:srgbClr>
          </a:solidFill>
          <a:ln w="15875">
            <a:solidFill>
              <a:srgbClr val="86B996"/>
            </a:solidFill>
            <a:prstDash val="solid"/>
          </a:ln>
        </p:spPr>
      </p:sp>
      <p:sp>
        <p:nvSpPr>
          <p:cNvPr id="17" name="anim-ps2-glyph"/>
          <p:cNvSpPr txBox="1"/>
          <p:nvPr/>
        </p:nvSpPr>
        <p:spPr>
          <a:xfrm>
            <a:off x="8001000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6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anim-ps2-h"/>
          <p:cNvSpPr txBox="1"/>
          <p:nvPr/>
        </p:nvSpPr>
        <p:spPr>
          <a:xfrm>
            <a:off x="8732520" y="40142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700" dirty="0"/>
          </a:p>
        </p:txBody>
      </p:sp>
      <p:sp>
        <p:nvSpPr>
          <p:cNvPr id="19" name="anim-ps2-b"/>
          <p:cNvSpPr txBox="1"/>
          <p:nvPr/>
        </p:nvSpPr>
        <p:spPr>
          <a:xfrm>
            <a:off x="8732520" y="4361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action plan and a one-page brief, every number traced</a:t>
            </a:r>
            <a:endParaRPr lang="en-US" sz="1300" dirty="0"/>
          </a:p>
        </p:txBody>
      </p:sp>
      <p:sp>
        <p:nvSpPr>
          <p:cNvPr id="20" name="anim-pt-n"/>
          <p:cNvSpPr txBox="1"/>
          <p:nvPr/>
        </p:nvSpPr>
        <p:spPr>
          <a:xfrm>
            <a:off x="8001000" y="4983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E0B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93.7 s</a:t>
            </a:r>
            <a:endParaRPr lang="en-US" sz="4000" dirty="0"/>
          </a:p>
        </p:txBody>
      </p:sp>
      <p:sp>
        <p:nvSpPr>
          <p:cNvPr id="21" name="anim-pt-l"/>
          <p:cNvSpPr txBox="1"/>
          <p:nvPr/>
        </p:nvSpPr>
        <p:spPr>
          <a:xfrm>
            <a:off x="8001000" y="5852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13 real tool calls, all numbers validated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7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9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9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9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31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1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1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63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3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3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3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95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95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10972800" y="5760720"/>
            <a:ext cx="1645920" cy="1645920"/>
          </a:xfrm>
          <a:prstGeom prst="ellipse">
            <a:avLst/>
          </a:prstGeom>
          <a:solidFill>
            <a:srgbClr val="3FB3BF">
              <a:alpha val="28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COMMITTEE CAN TRUST IT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by construction</a:t>
            </a:r>
            <a:endParaRPr lang="en-US" sz="3600" dirty="0"/>
          </a:p>
        </p:txBody>
      </p:sp>
      <p:sp>
        <p:nvSpPr>
          <p:cNvPr id="5" name="anim-t0-icon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3FB3BF">
              <a:alpha val="22000"/>
            </a:srgbClr>
          </a:solidFill>
          <a:ln w="15875">
            <a:solidFill>
              <a:srgbClr val="3FB3BF"/>
            </a:solidFill>
            <a:prstDash val="solid"/>
          </a:ln>
        </p:spPr>
      </p:sp>
      <p:sp>
        <p:nvSpPr>
          <p:cNvPr id="6" name="anim-t0-glyph"/>
          <p:cNvSpPr txBox="1"/>
          <p:nvPr/>
        </p:nvSpPr>
        <p:spPr>
          <a:xfrm>
            <a:off x="54864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7" name="anim-t0-h"/>
          <p:cNvSpPr txBox="1"/>
          <p:nvPr/>
        </p:nvSpPr>
        <p:spPr>
          <a:xfrm>
            <a:off x="1325880" y="1426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traced</a:t>
            </a:r>
            <a:endParaRPr lang="en-US" sz="1800" dirty="0"/>
          </a:p>
        </p:txBody>
      </p:sp>
      <p:sp>
        <p:nvSpPr>
          <p:cNvPr id="8" name="anim-t0-b"/>
          <p:cNvSpPr txBox="1"/>
          <p:nvPr/>
        </p:nvSpPr>
        <p:spPr>
          <a:xfrm>
            <a:off x="1325880" y="179222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stored run, analysis or source, with its licence and hash. The copilot withholds any figure it cannot trace.</a:t>
            </a:r>
            <a:endParaRPr lang="en-US" sz="1350" dirty="0"/>
          </a:p>
        </p:txBody>
      </p:sp>
      <p:sp>
        <p:nvSpPr>
          <p:cNvPr id="9" name="anim-t1-icon"/>
          <p:cNvSpPr/>
          <p:nvPr/>
        </p:nvSpPr>
        <p:spPr>
          <a:xfrm>
            <a:off x="548640" y="2578608"/>
            <a:ext cx="566928" cy="566928"/>
          </a:xfrm>
          <a:prstGeom prst="ellipse">
            <a:avLst/>
          </a:prstGeom>
          <a:solidFill>
            <a:srgbClr val="E0B154">
              <a:alpha val="22000"/>
            </a:srgbClr>
          </a:solidFill>
          <a:ln w="15875">
            <a:solidFill>
              <a:srgbClr val="E0B154"/>
            </a:solidFill>
            <a:prstDash val="solid"/>
          </a:ln>
        </p:spPr>
      </p:sp>
      <p:sp>
        <p:nvSpPr>
          <p:cNvPr id="10" name="anim-t1-glyph"/>
          <p:cNvSpPr txBox="1"/>
          <p:nvPr/>
        </p:nvSpPr>
        <p:spPr>
          <a:xfrm>
            <a:off x="548640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anim-t1-h"/>
          <p:cNvSpPr txBox="1"/>
          <p:nvPr/>
        </p:nvSpPr>
        <p:spPr>
          <a:xfrm>
            <a:off x="1325880" y="2542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are labelled</a:t>
            </a:r>
            <a:endParaRPr lang="en-US" sz="1800" dirty="0"/>
          </a:p>
        </p:txBody>
      </p:sp>
      <p:sp>
        <p:nvSpPr>
          <p:cNvPr id="12" name="anim-t1-b"/>
          <p:cNvSpPr txBox="1"/>
          <p:nvPr/>
        </p:nvSpPr>
        <p:spPr>
          <a:xfrm>
            <a:off x="1325880" y="29077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rights and costs are assumed and editable; the crop model is uncalibrated. Badges say so on screen.</a:t>
            </a:r>
            <a:endParaRPr lang="en-US" sz="1350" dirty="0"/>
          </a:p>
        </p:txBody>
      </p:sp>
      <p:sp>
        <p:nvSpPr>
          <p:cNvPr id="13" name="anim-t2-icon"/>
          <p:cNvSpPr/>
          <p:nvPr/>
        </p:nvSpPr>
        <p:spPr>
          <a:xfrm>
            <a:off x="548640" y="3694176"/>
            <a:ext cx="566928" cy="566928"/>
          </a:xfrm>
          <a:prstGeom prst="ellipse">
            <a:avLst/>
          </a:prstGeom>
          <a:solidFill>
            <a:srgbClr val="3FB3BF">
              <a:alpha val="22000"/>
            </a:srgbClr>
          </a:solidFill>
          <a:ln w="15875">
            <a:solidFill>
              <a:srgbClr val="3FB3BF"/>
            </a:solidFill>
            <a:prstDash val="solid"/>
          </a:ln>
        </p:spPr>
      </p:sp>
      <p:sp>
        <p:nvSpPr>
          <p:cNvPr id="14" name="anim-t2-glyph"/>
          <p:cNvSpPr txBox="1"/>
          <p:nvPr/>
        </p:nvSpPr>
        <p:spPr>
          <a:xfrm>
            <a:off x="548640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⌁</a:t>
            </a:r>
            <a:endParaRPr lang="en-US" sz="2000" dirty="0"/>
          </a:p>
        </p:txBody>
      </p:sp>
      <p:sp>
        <p:nvSpPr>
          <p:cNvPr id="15" name="anim-t2-h"/>
          <p:cNvSpPr txBox="1"/>
          <p:nvPr/>
        </p:nvSpPr>
        <p:spPr>
          <a:xfrm>
            <a:off x="132588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800" dirty="0"/>
          </a:p>
        </p:txBody>
      </p:sp>
      <p:sp>
        <p:nvSpPr>
          <p:cNvPr id="16" name="anim-t2-b"/>
          <p:cNvSpPr txBox="1"/>
          <p:nvPr/>
        </p:nvSpPr>
        <p:spPr>
          <a:xfrm>
            <a:off x="1325880" y="40233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the crop model and the optimiser run locally in Docker. Cold start: 3.1 s to ready, 3.9 s to the tour.</a:t>
            </a:r>
            <a:endParaRPr lang="en-US" sz="1350" dirty="0"/>
          </a:p>
        </p:txBody>
      </p:sp>
      <p:sp>
        <p:nvSpPr>
          <p:cNvPr id="17" name="anim-t3-icon"/>
          <p:cNvSpPr/>
          <p:nvPr/>
        </p:nvSpPr>
        <p:spPr>
          <a:xfrm>
            <a:off x="548640" y="4809744"/>
            <a:ext cx="566928" cy="566928"/>
          </a:xfrm>
          <a:prstGeom prst="ellipse">
            <a:avLst/>
          </a:prstGeom>
          <a:solidFill>
            <a:srgbClr val="3FB3BF">
              <a:alpha val="22000"/>
            </a:srgbClr>
          </a:solidFill>
          <a:ln w="15875">
            <a:solidFill>
              <a:srgbClr val="3FB3BF"/>
            </a:solidFill>
            <a:prstDash val="solid"/>
          </a:ln>
        </p:spPr>
      </p:sp>
      <p:sp>
        <p:nvSpPr>
          <p:cNvPr id="18" name="anim-t3-glyph"/>
          <p:cNvSpPr txBox="1"/>
          <p:nvPr/>
        </p:nvSpPr>
        <p:spPr>
          <a:xfrm>
            <a:off x="548640" y="4809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anim-t3-h"/>
          <p:cNvSpPr txBox="1"/>
          <p:nvPr/>
        </p:nvSpPr>
        <p:spPr>
          <a:xfrm>
            <a:off x="1325880" y="4773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800" dirty="0"/>
          </a:p>
        </p:txBody>
      </p:sp>
      <p:sp>
        <p:nvSpPr>
          <p:cNvPr id="20" name="anim-t3-b"/>
          <p:cNvSpPr txBox="1"/>
          <p:nvPr/>
        </p:nvSpPr>
        <p:spPr>
          <a:xfrm>
            <a:off x="1325880" y="513892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pilots re-derive byte for byte; make evidence-pack bundles the proof.</a:t>
            </a:r>
            <a:endParaRPr lang="en-US" sz="1350" dirty="0"/>
          </a:p>
        </p:txBody>
      </p:sp>
      <p:sp>
        <p:nvSpPr>
          <p:cNvPr id="21" name="anim-shot-frame"/>
          <p:cNvSpPr/>
          <p:nvPr/>
        </p:nvSpPr>
        <p:spPr>
          <a:xfrm>
            <a:off x="6483096" y="1453896"/>
            <a:ext cx="5230368" cy="2990088"/>
          </a:xfrm>
          <a:prstGeom prst="roundRect">
            <a:avLst>
              <a:gd name="adj" fmla="val 4893"/>
            </a:avLst>
          </a:prstGeom>
          <a:solidFill>
            <a:srgbClr val="1B3331"/>
          </a:solidFill>
          <a:ln w="12700">
            <a:solidFill>
              <a:srgbClr val="087F8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22" name="anim-shot" descr="/repo/docs/pitch/shots/10-tr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508760"/>
            <a:ext cx="5120640" cy="2880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7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7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7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7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9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9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9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1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1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1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31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3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630"/>
                            </p:stCondLst>
                            <p:childTnLst>
                              <p:par>
                                <p:cTn id="10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-822960" y="-822960"/>
            <a:ext cx="2560320" cy="2560320"/>
          </a:xfrm>
          <a:prstGeom prst="ellipse">
            <a:avLst/>
          </a:prstGeom>
          <a:solidFill>
            <a:srgbClr val="3FB3BF">
              <a:alpha val="26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COMMITTEE TAKES HOME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one-page, dated action plan</a:t>
            </a:r>
            <a:endParaRPr lang="en-US" sz="3600" dirty="0"/>
          </a:p>
        </p:txBody>
      </p:sp>
      <p:sp>
        <p:nvSpPr>
          <p:cNvPr id="5" name="anim-sub"/>
          <p:cNvSpPr txBox="1"/>
          <p:nvPr/>
        </p:nvSpPr>
        <p:spPr>
          <a:xfrm>
            <a:off x="548640" y="11155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when, at what cost, and who still goes short. Printed from the real run.</a:t>
            </a:r>
            <a:endParaRPr lang="en-US" sz="1700" dirty="0"/>
          </a:p>
        </p:txBody>
      </p:sp>
      <p:sp>
        <p:nvSpPr>
          <p:cNvPr id="6" name="anim-shot-frame"/>
          <p:cNvSpPr/>
          <p:nvPr/>
        </p:nvSpPr>
        <p:spPr>
          <a:xfrm>
            <a:off x="493776" y="1865376"/>
            <a:ext cx="6601968" cy="3761613"/>
          </a:xfrm>
          <a:prstGeom prst="roundRect">
            <a:avLst>
              <a:gd name="adj" fmla="val 3889"/>
            </a:avLst>
          </a:prstGeom>
          <a:solidFill>
            <a:srgbClr val="1B3331"/>
          </a:solidFill>
          <a:ln w="12700">
            <a:solidFill>
              <a:srgbClr val="087F8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7" name="anim-shot" descr="/repo/docs/pitch/shots/09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492240" cy="3651885"/>
          </a:xfrm>
          <a:prstGeom prst="rect">
            <a:avLst/>
          </a:prstGeom>
        </p:spPr>
      </p:pic>
      <p:sp>
        <p:nvSpPr>
          <p:cNvPr id="8" name="anim-w0"/>
          <p:cNvSpPr/>
          <p:nvPr/>
        </p:nvSpPr>
        <p:spPr>
          <a:xfrm>
            <a:off x="7406640" y="2011680"/>
            <a:ext cx="4233672" cy="1005840"/>
          </a:xfrm>
          <a:prstGeom prst="roundRect">
            <a:avLst>
              <a:gd name="adj" fmla="val 16364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anim-w0-t"/>
          <p:cNvSpPr txBox="1"/>
          <p:nvPr/>
        </p:nvSpPr>
        <p:spPr>
          <a:xfrm>
            <a:off x="7635240" y="208483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WUA coordinator or extension officer</a:t>
            </a:r>
            <a:endParaRPr lang="en-US" sz="1500" dirty="0"/>
          </a:p>
        </p:txBody>
      </p:sp>
      <p:sp>
        <p:nvSpPr>
          <p:cNvPr id="10" name="anim-w1"/>
          <p:cNvSpPr/>
          <p:nvPr/>
        </p:nvSpPr>
        <p:spPr>
          <a:xfrm>
            <a:off x="7406640" y="3200400"/>
            <a:ext cx="4233672" cy="1005840"/>
          </a:xfrm>
          <a:prstGeom prst="roundRect">
            <a:avLst>
              <a:gd name="adj" fmla="val 16364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anim-w1-t"/>
          <p:cNvSpPr txBox="1"/>
          <p:nvPr/>
        </p:nvSpPr>
        <p:spPr>
          <a:xfrm>
            <a:off x="7635240" y="327355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buyer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programme funding irrigation or resilience work</a:t>
            </a:r>
            <a:endParaRPr lang="en-US" sz="1500" dirty="0"/>
          </a:p>
        </p:txBody>
      </p:sp>
      <p:sp>
        <p:nvSpPr>
          <p:cNvPr id="12" name="anim-w2"/>
          <p:cNvSpPr/>
          <p:nvPr/>
        </p:nvSpPr>
        <p:spPr>
          <a:xfrm>
            <a:off x="7406640" y="4389120"/>
            <a:ext cx="4233672" cy="1005840"/>
          </a:xfrm>
          <a:prstGeom prst="roundRect">
            <a:avLst>
              <a:gd name="adj" fmla="val 16364"/>
            </a:avLst>
          </a:prstGeom>
          <a:solidFill>
            <a:srgbClr val="122523"/>
          </a:solidFill>
          <a:ln w="12700">
            <a:solidFill>
              <a:srgbClr val="1B333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anim-w2-t"/>
          <p:cNvSpPr txBox="1"/>
          <p:nvPr/>
        </p:nvSpPr>
        <p:spPr>
          <a:xfrm>
            <a:off x="7635240" y="446227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by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8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draw an area, AI finds fields, review, publish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7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9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1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1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3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3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rop"/>
          <p:cNvSpPr/>
          <p:nvPr/>
        </p:nvSpPr>
        <p:spPr>
          <a:xfrm>
            <a:off x="7223760" y="-1463040"/>
            <a:ext cx="6583680" cy="6583680"/>
          </a:xfrm>
          <a:prstGeom prst="ellipse">
            <a:avLst/>
          </a:prstGeom>
          <a:solidFill>
            <a:srgbClr val="3FB3BF">
              <a:alpha val="18000"/>
            </a:srgbClr>
          </a:solidFill>
          <a:ln w="12700">
            <a:solidFill>
              <a:srgbClr val="6FD6D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18288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season before you spend.</a:t>
            </a:r>
            <a:endParaRPr lang="en-US" sz="4800" dirty="0"/>
          </a:p>
        </p:txBody>
      </p:sp>
      <p:sp>
        <p:nvSpPr>
          <p:cNvPr id="5" name="anim-ask"/>
          <p:cNvSpPr txBox="1"/>
          <p:nvPr/>
        </p:nvSpPr>
        <p:spPr>
          <a:xfrm>
            <a:off x="548640" y="37490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pilot with one Water User Association: calibrate the crop model, verify rights and costs, and put the plan in the committee's hands.</a:t>
            </a:r>
            <a:endParaRPr lang="en-US" sz="1800" dirty="0"/>
          </a:p>
        </p:txBody>
      </p:sp>
      <p:sp>
        <p:nvSpPr>
          <p:cNvPr id="6" name="anim-who"/>
          <p:cNvSpPr txBox="1"/>
          <p:nvPr/>
        </p:nvSpPr>
        <p:spPr>
          <a:xfrm>
            <a:off x="548640" y="49834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0B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wants to be first?</a:t>
            </a:r>
            <a:endParaRPr lang="en-US" sz="2600" dirty="0"/>
          </a:p>
        </p:txBody>
      </p:sp>
      <p:sp>
        <p:nvSpPr>
          <p:cNvPr id="7" name="anim-close-frame"/>
          <p:cNvSpPr/>
          <p:nvPr/>
        </p:nvSpPr>
        <p:spPr>
          <a:xfrm>
            <a:off x="6894576" y="1773936"/>
            <a:ext cx="4818888" cy="2758631"/>
          </a:xfrm>
          <a:prstGeom prst="roundRect">
            <a:avLst>
              <a:gd name="adj" fmla="val 5304"/>
            </a:avLst>
          </a:prstGeom>
          <a:solidFill>
            <a:srgbClr val="1B3331"/>
          </a:solidFill>
          <a:ln w="12700">
            <a:solidFill>
              <a:srgbClr val="087F8C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8" name="anim-close" descr="/repo/docs/pitch/shots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0"/>
            <a:ext cx="4709160" cy="26489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98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5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7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9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AabFlow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AabFlow: test the season before you spend</dc:title>
  <dc:subject>PptxGenJS Presentation</dc:subject>
  <dc:creator>AabFlow team</dc:creator>
  <cp:lastModifiedBy>AabFlow team</cp:lastModifiedBy>
  <cp:revision>1</cp:revision>
  <dcterms:created xsi:type="dcterms:W3CDTF">2026-10-10T17:17:48Z</dcterms:created>
  <dcterms:modified xsi:type="dcterms:W3CDTF">2026-10-10T17:17:48Z</dcterms:modified>
</cp:coreProperties>
</file>